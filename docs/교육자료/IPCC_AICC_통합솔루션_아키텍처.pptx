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188720"/>
            <a:ext cx="2377440" cy="347472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LG Smart_H OTF2.0 SB" pitchFamily="34" charset="0"/>
                <a:ea typeface="LG Smart_H OTF2.0 SB" pitchFamily="34" charset="-122"/>
                <a:cs typeface="LG Smart_H OTF2.0 SB" pitchFamily="34" charset="-120"/>
              </a:rPr>
              <a:t>LG U+ AI Contact Center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IPCC + AICC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B4D8"/>
                </a:solidFill>
                <a:latin typeface="LG Smart_H OTF2.0 SB" pitchFamily="34" charset="0"/>
                <a:ea typeface="LG Smart_H OTF2.0 SB" pitchFamily="34" charset="-122"/>
                <a:cs typeface="LG Smart_H OTF2.0 SB" pitchFamily="34" charset="-120"/>
              </a:rPr>
              <a:t>통합 솔루션 아키텍처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PBX · IVR · CTI 기반 IPCC 인프라와 Cloud 기반 AI 컨택센터의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차세대 통합 아키텍처 개요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0" y="1371600"/>
            <a:ext cx="548640" cy="54864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481328"/>
            <a:ext cx="329184" cy="3291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72400" y="2011680"/>
            <a:ext cx="548640" cy="54864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2121408"/>
            <a:ext cx="329184" cy="3291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772400" y="2651760"/>
            <a:ext cx="548640" cy="54864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2761488"/>
            <a:ext cx="329184" cy="32918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772400" y="3291840"/>
            <a:ext cx="548640" cy="54864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8" y="3401568"/>
            <a:ext cx="329184" cy="32918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17" name="Text 11"/>
          <p:cNvSpPr/>
          <p:nvPr/>
        </p:nvSpPr>
        <p:spPr>
          <a:xfrm>
            <a:off x="640080" y="4800600"/>
            <a:ext cx="7680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LG Smart_H OTF2.0 L" pitchFamily="34" charset="0"/>
                <a:ea typeface="LG Smart_H OTF2.0 L" pitchFamily="34" charset="-122"/>
                <a:cs typeface="LG Smart_H OTF2.0 L" pitchFamily="34" charset="-120"/>
              </a:rPr>
              <a:t>Confidential  |  LG U+ AI Business Team 2  | 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54864" cy="320040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0073"/>
                </a:solidFill>
                <a:latin typeface="LG Smart_H OTF2.0 SB" pitchFamily="34" charset="0"/>
                <a:ea typeface="LG Smart_H OTF2.0 SB" pitchFamily="34" charset="-122"/>
                <a:cs typeface="LG Smart_H OTF2.0 SB" pitchFamily="34" charset="-120"/>
              </a:rPr>
              <a:t>01  IPCC 개요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IPCC란 무엇인가?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Internet Protocol Contact Center — 전통적 전화 교환 인프라를 IP 기반으로 전환한 컨택센터 핵심 플랫폼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2468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E60073">
              <a:alpha val="85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25856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PBX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77240" y="30815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LG Smart_H OTF2.0 L" pitchFamily="34" charset="0"/>
                <a:ea typeface="LG Smart_H OTF2.0 L" pitchFamily="34" charset="-122"/>
                <a:cs typeface="LG Smart_H OTF2.0 L" pitchFamily="34" charset="-120"/>
              </a:rPr>
              <a:t>Private Branch Exchange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7724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내부 전화 교환기로 외부 통신망과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내부 전화를 연결·관리하는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핵심 인프라 장비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29000" y="1965960"/>
            <a:ext cx="2468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66160" y="2148840"/>
            <a:ext cx="502920" cy="502920"/>
          </a:xfrm>
          <a:prstGeom prst="ellipse">
            <a:avLst/>
          </a:prstGeom>
          <a:solidFill>
            <a:srgbClr val="00B4D8">
              <a:alpha val="85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25856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IVR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566160" y="30815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LG Smart_H OTF2.0 L" pitchFamily="34" charset="0"/>
                <a:ea typeface="LG Smart_H OTF2.0 L" pitchFamily="34" charset="-122"/>
                <a:cs typeface="LG Smart_H OTF2.0 L" pitchFamily="34" charset="-120"/>
              </a:rPr>
              <a:t>Interactive Voice Response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56616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고객 전화 수신 시 자동 음성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안내를 통해 메뉴를 선택하게 하고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적절한 상담원에게 분배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217920" y="1965960"/>
            <a:ext cx="2468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55080" y="2148840"/>
            <a:ext cx="502920" cy="502920"/>
          </a:xfrm>
          <a:prstGeom prst="ellipse">
            <a:avLst/>
          </a:prstGeom>
          <a:solidFill>
            <a:srgbClr val="1A2B4A">
              <a:alpha val="85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225856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5508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CTI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6355080" y="30815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LG Smart_H OTF2.0 L" pitchFamily="34" charset="0"/>
                <a:ea typeface="LG Smart_H OTF2.0 L" pitchFamily="34" charset="-122"/>
                <a:cs typeface="LG Smart_H OTF2.0 L" pitchFamily="34" charset="-120"/>
              </a:rPr>
              <a:t>Computer Telephony Integration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35508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전화 시스템과 컴퓨터 시스템을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연동하여 상담원 화면에 고객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정보를 자동 팝업</a:t>
            </a:r>
            <a:endParaRPr lang="en-US" sz="11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808" y="2880360"/>
            <a:ext cx="502920" cy="22860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728" y="2880360"/>
            <a:ext cx="502920" cy="22860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8" name="Text 21"/>
          <p:cNvSpPr/>
          <p:nvPr/>
        </p:nvSpPr>
        <p:spPr>
          <a:xfrm>
            <a:off x="64008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LG Smart_H OTF2.0 L" pitchFamily="34" charset="0"/>
                <a:ea typeface="LG Smart_H OTF2.0 L" pitchFamily="34" charset="-122"/>
                <a:cs typeface="LG Smart_H OTF2.0 L" pitchFamily="34" charset="-120"/>
              </a:rPr>
              <a:t>LG U+ IPCC + AICC 통합 솔루션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LG Smart_H OTF2.0 L" pitchFamily="34" charset="0"/>
                <a:ea typeface="LG Smart_H OTF2.0 L" pitchFamily="34" charset="-122"/>
                <a:cs typeface="LG Smart_H OTF2.0 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54864" cy="320040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0073"/>
                </a:solidFill>
                <a:latin typeface="LG Smart_H OTF2.0 SB" pitchFamily="34" charset="0"/>
                <a:ea typeface="LG Smart_H OTF2.0 SB" pitchFamily="34" charset="-122"/>
                <a:cs typeface="LG Smart_H OTF2.0 SB" pitchFamily="34" charset="-120"/>
              </a:rPr>
              <a:t>02  IPCC 구성도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IPCC 핵심 인프라 구성도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7863840" cy="30175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468880"/>
            <a:ext cx="914400" cy="914400"/>
          </a:xfrm>
          <a:prstGeom prst="ellipse">
            <a:avLst/>
          </a:prstGeom>
          <a:solidFill>
            <a:srgbClr val="94A3B8">
              <a:alpha val="20000"/>
            </a:srgbClr>
          </a:solidFill>
          <a:ln w="19050">
            <a:solidFill>
              <a:srgbClr val="94A3B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6060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429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고객 전화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743200"/>
            <a:ext cx="64008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43200" y="2194560"/>
            <a:ext cx="1463040" cy="146304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3317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43200" y="2880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PBX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2743200" y="3200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LG Smart_H OTF2.0 L" pitchFamily="34" charset="0"/>
                <a:ea typeface="LG Smart_H OTF2.0 L" pitchFamily="34" charset="-122"/>
                <a:cs typeface="LG Smart_H OTF2.0 L" pitchFamily="34" charset="-120"/>
              </a:rPr>
              <a:t>교환기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514600"/>
            <a:ext cx="64008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074920" y="1828800"/>
            <a:ext cx="1463040" cy="118872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192024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74920" y="2423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IVR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5074920" y="2697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LG Smart_H OTF2.0 L" pitchFamily="34" charset="0"/>
                <a:ea typeface="LG Smart_H OTF2.0 L" pitchFamily="34" charset="-122"/>
                <a:cs typeface="LG Smart_H OTF2.0 L" pitchFamily="34" charset="-120"/>
              </a:rPr>
              <a:t>음성 안내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4206240" y="2926080"/>
            <a:ext cx="8686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1" name="Shape 14"/>
          <p:cNvSpPr/>
          <p:nvPr/>
        </p:nvSpPr>
        <p:spPr>
          <a:xfrm>
            <a:off x="4206240" y="2926080"/>
            <a:ext cx="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2" name="Shape 15"/>
          <p:cNvSpPr/>
          <p:nvPr/>
        </p:nvSpPr>
        <p:spPr>
          <a:xfrm>
            <a:off x="4206240" y="3840480"/>
            <a:ext cx="8686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3" name="Shape 16"/>
          <p:cNvSpPr/>
          <p:nvPr/>
        </p:nvSpPr>
        <p:spPr>
          <a:xfrm>
            <a:off x="5806440" y="3017520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4" name="Shape 17"/>
          <p:cNvSpPr/>
          <p:nvPr/>
        </p:nvSpPr>
        <p:spPr>
          <a:xfrm>
            <a:off x="5074920" y="3246120"/>
            <a:ext cx="1463040" cy="1188720"/>
          </a:xfrm>
          <a:prstGeom prst="rect">
            <a:avLst/>
          </a:prstGeom>
          <a:solidFill>
            <a:srgbClr val="E6007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333756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74920" y="3840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CTI</a:t>
            </a:r>
            <a:endParaRPr lang="en-US" sz="1800" dirty="0"/>
          </a:p>
        </p:txBody>
      </p:sp>
      <p:sp>
        <p:nvSpPr>
          <p:cNvPr id="27" name="Text 19"/>
          <p:cNvSpPr/>
          <p:nvPr/>
        </p:nvSpPr>
        <p:spPr>
          <a:xfrm>
            <a:off x="5074920" y="41148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LG Smart_H OTF2.0 L" pitchFamily="34" charset="0"/>
                <a:ea typeface="LG Smart_H OTF2.0 L" pitchFamily="34" charset="-122"/>
                <a:cs typeface="LG Smart_H OTF2.0 L" pitchFamily="34" charset="-120"/>
              </a:rPr>
              <a:t>전화-컴퓨터 연동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65836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B4D8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+</a:t>
            </a:r>
            <a:endParaRPr lang="en-US" sz="2600" dirty="0"/>
          </a:p>
        </p:txBody>
      </p:sp>
      <p:sp>
        <p:nvSpPr>
          <p:cNvPr id="29" name="Shape 21"/>
          <p:cNvSpPr/>
          <p:nvPr/>
        </p:nvSpPr>
        <p:spPr>
          <a:xfrm>
            <a:off x="6949440" y="2103120"/>
            <a:ext cx="1371600" cy="2103120"/>
          </a:xfrm>
          <a:prstGeom prst="rect">
            <a:avLst/>
          </a:prstGeom>
          <a:solidFill>
            <a:srgbClr val="00B4D8">
              <a:alpha val="10000"/>
            </a:srgbClr>
          </a:solidFill>
          <a:ln w="19050">
            <a:solidFill>
              <a:srgbClr val="00B4D8"/>
            </a:solidFill>
            <a:prstDash val="dash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0" y="2377440"/>
            <a:ext cx="548640" cy="5486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94944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96C7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Cloud</a:t>
            </a:r>
            <a:endParaRPr lang="en-US" sz="1500" dirty="0"/>
          </a:p>
        </p:txBody>
      </p:sp>
      <p:sp>
        <p:nvSpPr>
          <p:cNvPr id="32" name="Text 23"/>
          <p:cNvSpPr/>
          <p:nvPr/>
        </p:nvSpPr>
        <p:spPr>
          <a:xfrm>
            <a:off x="6949440" y="3246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+ AICC 연동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6949440" y="3474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LG Smart_H OTF2.0 L" pitchFamily="34" charset="0"/>
                <a:ea typeface="LG Smart_H OTF2.0 L" pitchFamily="34" charset="-122"/>
                <a:cs typeface="LG Smart_H OTF2.0 L" pitchFamily="34" charset="-120"/>
              </a:rPr>
              <a:t>AI 기능 확장 영역</a:t>
            </a:r>
            <a:endParaRPr lang="en-US" sz="800" dirty="0"/>
          </a:p>
        </p:txBody>
      </p:sp>
      <p:sp>
        <p:nvSpPr>
          <p:cNvPr id="34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5" name="Text 26"/>
          <p:cNvSpPr/>
          <p:nvPr/>
        </p:nvSpPr>
        <p:spPr>
          <a:xfrm>
            <a:off x="64008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LG Smart_H OTF2.0 L" pitchFamily="34" charset="0"/>
                <a:ea typeface="LG Smart_H OTF2.0 L" pitchFamily="34" charset="-122"/>
                <a:cs typeface="LG Smart_H OTF2.0 L" pitchFamily="34" charset="-120"/>
              </a:rPr>
              <a:t>LG U+ IPCC + AICC 통합 솔루션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LG Smart_H OTF2.0 L" pitchFamily="34" charset="0"/>
                <a:ea typeface="LG Smart_H OTF2.0 L" pitchFamily="34" charset="-122"/>
                <a:cs typeface="LG Smart_H OTF2.0 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54864" cy="320040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0073"/>
                </a:solidFill>
                <a:latin typeface="LG Smart_H OTF2.0 SB" pitchFamily="34" charset="0"/>
                <a:ea typeface="LG Smart_H OTF2.0 SB" pitchFamily="34" charset="-122"/>
                <a:cs typeface="LG Smart_H OTF2.0 SB" pitchFamily="34" charset="-120"/>
              </a:rPr>
              <a:t>03  AICC 개요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AICC — AI Contact Center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기존 IPCC 인프라에 AI 기술을 결합하여 고객 응대 품질과 운영 효율을 혁신하는 차세대 컨택센터 솔루션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3703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920240"/>
            <a:ext cx="54864" cy="1417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240280"/>
            <a:ext cx="502920" cy="502920"/>
          </a:xfrm>
          <a:prstGeom prst="ellipse">
            <a:avLst/>
          </a:prstGeom>
          <a:solidFill>
            <a:srgbClr val="00B4D8">
              <a:alpha val="85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35000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2057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STT / TTS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54480" y="23774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음성을 텍스트로 변환(STT)하고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텍스트를 음성으로 합성(TTS)하여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실시간 대화 분석 및 자동응대 지원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17720" y="1920240"/>
            <a:ext cx="3703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1920240"/>
            <a:ext cx="54864" cy="1417320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15" name="Shape 12"/>
          <p:cNvSpPr/>
          <p:nvPr/>
        </p:nvSpPr>
        <p:spPr>
          <a:xfrm>
            <a:off x="4846320" y="2240280"/>
            <a:ext cx="502920" cy="502920"/>
          </a:xfrm>
          <a:prstGeom prst="ellipse">
            <a:avLst/>
          </a:prstGeom>
          <a:solidFill>
            <a:srgbClr val="E60073">
              <a:alpha val="85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350008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32120" y="2057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AI Chatbot / Voicebot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532120" y="23774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자연어 처리 기반 자동 응대 시스템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단순 문의는 AI가 처리하고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복잡한 건만 상담원에게 전달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40080" y="3611880"/>
            <a:ext cx="3703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611880"/>
            <a:ext cx="54864" cy="1417320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21" name="Shape 17"/>
          <p:cNvSpPr/>
          <p:nvPr/>
        </p:nvSpPr>
        <p:spPr>
          <a:xfrm>
            <a:off x="868680" y="3931920"/>
            <a:ext cx="502920" cy="502920"/>
          </a:xfrm>
          <a:prstGeom prst="ellipse">
            <a:avLst/>
          </a:prstGeom>
          <a:solidFill>
            <a:srgbClr val="E60073">
              <a:alpha val="85000"/>
            </a:srgb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04164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54480" y="3749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상담 어드바이저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554480" y="4069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실시간 통화 중 상담원에게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최적의 답변·스크립트·고객 이력을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AI가 자동 추천하여 응대 품질 향상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617720" y="3611880"/>
            <a:ext cx="3703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617720" y="3611880"/>
            <a:ext cx="54864" cy="14173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7" name="Shape 22"/>
          <p:cNvSpPr/>
          <p:nvPr/>
        </p:nvSpPr>
        <p:spPr>
          <a:xfrm>
            <a:off x="4846320" y="3931920"/>
            <a:ext cx="502920" cy="502920"/>
          </a:xfrm>
          <a:prstGeom prst="ellipse">
            <a:avLst/>
          </a:prstGeom>
          <a:solidFill>
            <a:srgbClr val="1A2B4A">
              <a:alpha val="85000"/>
            </a:srgbClr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404164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32120" y="3749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자동 QA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5532120" y="4069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전수 통화 품질 자동 평가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감정 분석·키워드 탐지·규정 준수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모니터링으로 품질 관리 고도화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2" name="Text 26"/>
          <p:cNvSpPr/>
          <p:nvPr/>
        </p:nvSpPr>
        <p:spPr>
          <a:xfrm>
            <a:off x="64008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LG Smart_H OTF2.0 L" pitchFamily="34" charset="0"/>
                <a:ea typeface="LG Smart_H OTF2.0 L" pitchFamily="34" charset="-122"/>
                <a:cs typeface="LG Smart_H OTF2.0 L" pitchFamily="34" charset="-120"/>
              </a:rPr>
              <a:t>LG U+ IPCC + AICC 통합 솔루션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LG Smart_H OTF2.0 L" pitchFamily="34" charset="0"/>
                <a:ea typeface="LG Smart_H OTF2.0 L" pitchFamily="34" charset="-122"/>
                <a:cs typeface="LG Smart_H OTF2.0 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54864" cy="320040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0073"/>
                </a:solidFill>
                <a:latin typeface="LG Smart_H OTF2.0 SB" pitchFamily="34" charset="0"/>
                <a:ea typeface="LG Smart_H OTF2.0 SB" pitchFamily="34" charset="-122"/>
                <a:cs typeface="LG Smart_H OTF2.0 SB" pitchFamily="34" charset="-120"/>
              </a:rPr>
              <a:t>04  통합 아키텍처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IPCC + AICC 통합 구성도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LG U+가 제공하는 On-Premise IPCC와 Cloud AICC의 통합 아키텍처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840480" cy="2743200"/>
          </a:xfrm>
          <a:prstGeom prst="rect">
            <a:avLst/>
          </a:prstGeom>
          <a:solidFill>
            <a:srgbClr val="1A2B4A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LG Smart_H OTF2.0 SB" pitchFamily="34" charset="0"/>
                <a:ea typeface="LG Smart_H OTF2.0 SB" pitchFamily="34" charset="-122"/>
                <a:cs typeface="LG Smart_H OTF2.0 SB" pitchFamily="34" charset="-120"/>
              </a:rPr>
              <a:t>IPCC  (On-Premise)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1463040" cy="82296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3317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PBX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560320" y="2286000"/>
            <a:ext cx="1463040" cy="822960"/>
          </a:xfrm>
          <a:prstGeom prst="rect">
            <a:avLst/>
          </a:prstGeom>
          <a:solidFill>
            <a:srgbClr val="0096C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3317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6032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IVR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1520" y="3383280"/>
            <a:ext cx="1463040" cy="822960"/>
          </a:xfrm>
          <a:prstGeom prst="rect">
            <a:avLst/>
          </a:prstGeom>
          <a:solidFill>
            <a:srgbClr val="E6007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34290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152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CTI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2560320" y="3383280"/>
            <a:ext cx="1463040" cy="8229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342900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56032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LG Smart_H OTF2.0 SB" pitchFamily="34" charset="0"/>
                <a:ea typeface="LG Smart_H OTF2.0 SB" pitchFamily="34" charset="-122"/>
                <a:cs typeface="LG Smart_H OTF2.0 SB" pitchFamily="34" charset="-120"/>
              </a:rPr>
              <a:t>녹취 시스템</a:t>
            </a:r>
            <a:endParaRPr lang="en-US" sz="11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8840" y="2514600"/>
            <a:ext cx="457200" cy="18288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1463040" y="310896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3291840" y="310896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297680" y="2743200"/>
            <a:ext cx="54864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18"/>
          <p:cNvSpPr/>
          <p:nvPr/>
        </p:nvSpPr>
        <p:spPr>
          <a:xfrm>
            <a:off x="4297680" y="2743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19"/>
          <p:cNvSpPr/>
          <p:nvPr/>
        </p:nvSpPr>
        <p:spPr>
          <a:xfrm>
            <a:off x="4846320" y="1783080"/>
            <a:ext cx="3840480" cy="274320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E60073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484632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0073"/>
                </a:solidFill>
                <a:latin typeface="LG Smart_H OTF2.0 SB" pitchFamily="34" charset="0"/>
                <a:ea typeface="LG Smart_H OTF2.0 SB" pitchFamily="34" charset="-122"/>
                <a:cs typeface="LG Smart_H OTF2.0 SB" pitchFamily="34" charset="-120"/>
              </a:rPr>
              <a:t>AICC  (Cloud)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120640" y="2286000"/>
            <a:ext cx="1463040" cy="822960"/>
          </a:xfrm>
          <a:prstGeom prst="rect">
            <a:avLst/>
          </a:prstGeom>
          <a:solidFill>
            <a:srgbClr val="0096C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2331720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12064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STT / TTS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949440" y="2286000"/>
            <a:ext cx="1463040" cy="822960"/>
          </a:xfrm>
          <a:prstGeom prst="rect">
            <a:avLst/>
          </a:prstGeom>
          <a:solidFill>
            <a:srgbClr val="E6007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0" y="2331720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94944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Bot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5120640" y="3383280"/>
            <a:ext cx="1463040" cy="822960"/>
          </a:xfrm>
          <a:prstGeom prst="rect">
            <a:avLst/>
          </a:prstGeom>
          <a:solidFill>
            <a:srgbClr val="E60073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3560" y="3429000"/>
            <a:ext cx="274320" cy="27432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12064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LG Smart_H OTF2.0 SB" pitchFamily="34" charset="0"/>
                <a:ea typeface="LG Smart_H OTF2.0 SB" pitchFamily="34" charset="-122"/>
                <a:cs typeface="LG Smart_H OTF2.0 SB" pitchFamily="34" charset="-120"/>
              </a:rPr>
              <a:t>상담 어드바이저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6949440" y="3383280"/>
            <a:ext cx="1463040" cy="82296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2360" y="3429000"/>
            <a:ext cx="274320" cy="27432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94944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자동 QA</a:t>
            </a:r>
            <a:endParaRPr lang="en-US" sz="11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2514600"/>
            <a:ext cx="457200" cy="182880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5852160" y="310896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30"/>
          <p:cNvSpPr/>
          <p:nvPr/>
        </p:nvSpPr>
        <p:spPr>
          <a:xfrm>
            <a:off x="7680960" y="310896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44" name="Text 32"/>
          <p:cNvSpPr/>
          <p:nvPr/>
        </p:nvSpPr>
        <p:spPr>
          <a:xfrm>
            <a:off x="64008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LG Smart_H OTF2.0 L" pitchFamily="34" charset="0"/>
                <a:ea typeface="LG Smart_H OTF2.0 L" pitchFamily="34" charset="-122"/>
                <a:cs typeface="LG Smart_H OTF2.0 L" pitchFamily="34" charset="-120"/>
              </a:rPr>
              <a:t>LG U+ IPCC + AICC 통합 솔루션</a:t>
            </a:r>
            <a:endParaRPr lang="en-US" sz="800" dirty="0"/>
          </a:p>
        </p:txBody>
      </p:sp>
      <p:sp>
        <p:nvSpPr>
          <p:cNvPr id="45" name="Text 33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LG Smart_H OTF2.0 L" pitchFamily="34" charset="0"/>
                <a:ea typeface="LG Smart_H OTF2.0 L" pitchFamily="34" charset="-122"/>
                <a:cs typeface="LG Smart_H OTF2.0 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65760"/>
            <a:ext cx="54864" cy="320040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0073"/>
                </a:solidFill>
                <a:latin typeface="LG Smart_H OTF2.0 SB" pitchFamily="34" charset="0"/>
                <a:ea typeface="LG Smart_H OTF2.0 SB" pitchFamily="34" charset="-122"/>
                <a:cs typeface="LG Smart_H OTF2.0 SB" pitchFamily="34" charset="-120"/>
              </a:rPr>
              <a:t>05  LG U+ 차별화 포인트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왜 LG U+인가?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0992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00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G Smart_H OTF2.0 SB" pitchFamily="34" charset="0"/>
                <a:ea typeface="LG Smart_H OTF2.0 SB" pitchFamily="34" charset="-122"/>
                <a:cs typeface="LG Smart_H OTF2.0 SB" pitchFamily="34" charset="-120"/>
              </a:rPr>
              <a:t>IPCC + AICC 원스톱 제공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1874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교환기(PBX)부터 AI 솔루션까지 단일 사업자가 통합 제공하여 구축·운영 복잡도를 획기적으로 감소시키고, 장애 발생 시 단일 창구로 신속 대응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33172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8716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377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G Smart_H OTF2.0 SB" pitchFamily="34" charset="0"/>
                <a:ea typeface="LG Smart_H OTF2.0 SB" pitchFamily="34" charset="-122"/>
                <a:cs typeface="LG Smart_H OTF2.0 SB" pitchFamily="34" charset="-120"/>
              </a:rPr>
              <a:t>Genesis Cloud 기반 안정성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71600" y="2651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글로벌 검증된 Genesis Cloud 플랫폼 위에 LG U+ 자체 AI 기술을 결합하여 엔터프라이즈급 안정성과 확장성을 동시에 확보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310896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64408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154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G Smart_H OTF2.0 SB" pitchFamily="34" charset="0"/>
                <a:ea typeface="LG Smart_H OTF2.0 SB" pitchFamily="34" charset="-122"/>
                <a:cs typeface="LG Smart_H OTF2.0 SB" pitchFamily="34" charset="-120"/>
              </a:rPr>
              <a:t>GPU-Free 경량 AI 아키텍처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371600" y="3429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GPU 인프라 없이도 고품질 AI 서비스를 제공하는 경량화 기술로 초기 투자비용을 절감하고, 기존 인프라에 유연하게 적용 가능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40080" y="388620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41648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3931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LG Smart_H OTF2.0 SB" pitchFamily="34" charset="0"/>
                <a:ea typeface="LG Smart_H OTF2.0 SB" pitchFamily="34" charset="-122"/>
                <a:cs typeface="LG Smart_H OTF2.0 SB" pitchFamily="34" charset="-120"/>
              </a:rPr>
              <a:t>금융권 특화 레퍼런스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371600" y="4206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한국투자증권, 우리은행, KB, 신한은행 등 주요 금융기관 구축 경험을 바탕으로 금융 컴플라이언스와 보안 요건에 최적화된 솔루션 제공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3" name="Text 17"/>
          <p:cNvSpPr/>
          <p:nvPr/>
        </p:nvSpPr>
        <p:spPr>
          <a:xfrm>
            <a:off x="64008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LG Smart_H OTF2.0 L" pitchFamily="34" charset="0"/>
                <a:ea typeface="LG Smart_H OTF2.0 L" pitchFamily="34" charset="-122"/>
                <a:cs typeface="LG Smart_H OTF2.0 L" pitchFamily="34" charset="-120"/>
              </a:rPr>
              <a:t>LG U+ IPCC + AICC 통합 솔루션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LG Smart_H OTF2.0 L" pitchFamily="34" charset="0"/>
                <a:ea typeface="LG Smart_H OTF2.0 L" pitchFamily="34" charset="-122"/>
                <a:cs typeface="LG Smart_H OTF2.0 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LG Smart_H OTF2.0 B" pitchFamily="34" charset="0"/>
                <a:ea typeface="LG Smart_H OTF2.0 B" pitchFamily="34" charset="-122"/>
                <a:cs typeface="LG Smart_H OTF2.0 B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3200400" y="2377440"/>
            <a:ext cx="2743200" cy="36576"/>
          </a:xfrm>
          <a:prstGeom prst="rect">
            <a:avLst/>
          </a:prstGeom>
          <a:solidFill>
            <a:srgbClr val="E60073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00B4D8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IPCC + AICC 통합 솔루션으로</a:t>
            </a:r>
            <a:endParaRPr lang="en-US" sz="16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00B4D8"/>
                </a:solidFill>
                <a:latin typeface="LG Smart_H OTF2.0 R" pitchFamily="34" charset="0"/>
                <a:ea typeface="LG Smart_H OTF2.0 R" pitchFamily="34" charset="-122"/>
                <a:cs typeface="LG Smart_H OTF2.0 R" pitchFamily="34" charset="-120"/>
              </a:rPr>
              <a:t>고객 경험의 새로운 기준을 만들겠습니다.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LG Smart_H OTF2.0 SB" pitchFamily="34" charset="0"/>
                <a:ea typeface="LG Smart_H OTF2.0 SB" pitchFamily="34" charset="-122"/>
                <a:cs typeface="LG Smart_H OTF2.0 SB" pitchFamily="34" charset="-120"/>
              </a:rPr>
              <a:t>LG U+  AI Business Team 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800600"/>
            <a:ext cx="7680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LG Smart_H OTF2.0 L" pitchFamily="34" charset="0"/>
                <a:ea typeface="LG Smart_H OTF2.0 L" pitchFamily="34" charset="-122"/>
                <a:cs typeface="LG Smart_H OTF2.0 L" pitchFamily="34" charset="-120"/>
              </a:rPr>
              <a:t>Confidential  |  LG U+  | 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LG U+ IPCC + AICC 통합 솔루션 아키텍처</dc:title>
  <dc:subject>PptxGenJS Presentation</dc:subject>
  <dc:creator>LG U+ AI Business Team 2</dc:creator>
  <cp:lastModifiedBy>LG U+ AI Business Team 2</cp:lastModifiedBy>
  <cp:revision>1</cp:revision>
  <dcterms:created xsi:type="dcterms:W3CDTF">2026-02-24T09:25:25Z</dcterms:created>
  <dcterms:modified xsi:type="dcterms:W3CDTF">2026-02-24T09:25:25Z</dcterms:modified>
</cp:coreProperties>
</file>